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926080"/>
            <a:ext cx="12191695" cy="3810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多智能体协作原理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D2FF"/>
                </a:solidFill>
              </a:defRPr>
            </a:pPr>
            <a:r>
              <a:t>Multi-Agent Collaboration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ABBCC"/>
                </a:solidFill>
              </a:defRPr>
            </a:pPr>
            <a:r>
              <a:t>以钻井事故处置系统为例，理解智能体如何协同工作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BBCC"/>
                </a:solidFill>
              </a:defRPr>
            </a:pPr>
            <a:r>
              <a:t>基于 LangGraph 框架  |  项目实战讲解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什么是多智能体系统？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016000" cy="5080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45720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D2FF"/>
                </a:solidFill>
              </a:defRPr>
            </a:pPr>
            <a:r>
              <a:t>核心定义</a:t>
            </a:r>
          </a:p>
          <a:p>
            <a:pPr>
              <a:spcAft>
                <a:spcPts val="400"/>
              </a:spcAft>
              <a:defRPr sz="1700" b="0">
                <a:solidFill>
                  <a:srgbClr val="FFFFFF"/>
                </a:solidFill>
              </a:defRPr>
            </a:pPr>
            <a:r>
              <a:t>  •  多个 AI 智能体（Agent）协同完成复杂任务</a:t>
            </a:r>
          </a:p>
          <a:p>
            <a:pPr>
              <a:spcAft>
                <a:spcPts val="400"/>
              </a:spcAft>
              <a:defRPr sz="1700" b="0">
                <a:solidFill>
                  <a:srgbClr val="FFFFFF"/>
                </a:solidFill>
              </a:defRPr>
            </a:pPr>
            <a:r>
              <a:t>  •  每个智能体有明确的角色和职责</a:t>
            </a:r>
          </a:p>
          <a:p>
            <a:pPr>
              <a:spcAft>
                <a:spcPts val="400"/>
              </a:spcAft>
              <a:defRPr sz="1700" b="0">
                <a:solidFill>
                  <a:srgbClr val="FFFFFF"/>
                </a:solidFill>
              </a:defRPr>
            </a:pPr>
            <a:r>
              <a:t>  •  通过共享状态（State）传递信息</a:t>
            </a:r>
          </a:p>
          <a:p>
            <a:pPr>
              <a:spcAft>
                <a:spcPts val="400"/>
              </a:spcAft>
              <a:defRPr sz="1700" b="0">
                <a:solidFill>
                  <a:srgbClr val="FFFFFF"/>
                </a:solidFill>
              </a:defRPr>
            </a:pPr>
            <a:r>
              <a:t>  •  由编排引擎（Orchestrator）协调执行顺序</a:t>
            </a:r>
          </a:p>
          <a:p>
            <a:pPr>
              <a:spcAft>
                <a:spcPts val="400"/>
              </a:spcAft>
              <a:defRPr sz="1700" b="0">
                <a:solidFill>
                  <a:srgbClr val="FFFFFF"/>
                </a:solidFill>
              </a:defRPr>
            </a:pPr>
            <a:r>
              <a:t>  •  可以串行、并行或条件分支执行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645920"/>
            <a:ext cx="5029200" cy="45720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2700">
            <a:solidFill>
              <a:srgbClr val="7B6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82880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7B68EE"/>
                </a:solidFill>
              </a:defRPr>
            </a:pPr>
            <a:r>
              <a:t>类比：医院会诊</a:t>
            </a:r>
          </a:p>
          <a:p>
            <a:pPr>
              <a:spcAft>
                <a:spcPts val="400"/>
              </a:spcAft>
              <a:defRPr sz="1700" b="0">
                <a:solidFill>
                  <a:srgbClr val="FFFFFF"/>
                </a:solidFill>
              </a:defRPr>
            </a:pPr>
            <a:r>
              <a:t>  •  急诊科医生 → 采集信息（事故解析）</a:t>
            </a:r>
          </a:p>
          <a:p>
            <a:pPr>
              <a:spcAft>
                <a:spcPts val="400"/>
              </a:spcAft>
              <a:defRPr sz="1700" b="0">
                <a:solidFill>
                  <a:srgbClr val="FFFFFF"/>
                </a:solidFill>
              </a:defRPr>
            </a:pPr>
            <a:r>
              <a:t>  •  影像科 → 查找历史病例（案例匹配）</a:t>
            </a:r>
          </a:p>
          <a:p>
            <a:pPr>
              <a:spcAft>
                <a:spcPts val="400"/>
              </a:spcAft>
              <a:defRPr sz="1700" b="0">
                <a:solidFill>
                  <a:srgbClr val="FFFFFF"/>
                </a:solidFill>
              </a:defRPr>
            </a:pPr>
            <a:r>
              <a:t>  •  外科医生 A → 激进方案（激进计划）</a:t>
            </a:r>
          </a:p>
          <a:p>
            <a:pPr>
              <a:spcAft>
                <a:spcPts val="400"/>
              </a:spcAft>
              <a:defRPr sz="1700" b="0">
                <a:solidFill>
                  <a:srgbClr val="FFFFFF"/>
                </a:solidFill>
              </a:defRPr>
            </a:pPr>
            <a:r>
              <a:t>  •  外科医生 B → 保守方案（保守计划）</a:t>
            </a:r>
          </a:p>
          <a:p>
            <a:pPr>
              <a:spcAft>
                <a:spcPts val="400"/>
              </a:spcAft>
              <a:defRPr sz="1700" b="0">
                <a:solidFill>
                  <a:srgbClr val="FFFFFF"/>
                </a:solidFill>
              </a:defRPr>
            </a:pPr>
            <a:r>
              <a:t>  •  质控部门 → 合规审查（合规检查）</a:t>
            </a:r>
          </a:p>
          <a:p>
            <a:pPr>
              <a:spcAft>
                <a:spcPts val="400"/>
              </a:spcAft>
              <a:defRPr sz="1700" b="0">
                <a:solidFill>
                  <a:srgbClr val="FFFFFF"/>
                </a:solidFill>
              </a:defRPr>
            </a:pPr>
            <a:r>
              <a:t>  •  专家组 → 综合决策（最终方案）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项目架构：钻井事故处置系统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016000" cy="5080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011680" cy="10972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71907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AABBCC"/>
                </a:solidFill>
              </a:defRPr>
            </a:pPr>
            <a:r>
              <a:t>用户输入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BBCC"/>
                </a:solidFill>
              </a:defRPr>
            </a:pPr>
            <a:r>
              <a:t>事故文字描述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60320" y="2011680"/>
            <a:ext cx="548640" cy="32004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0" y="1645920"/>
            <a:ext cx="2011680" cy="10972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171907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D2FF"/>
                </a:solidFill>
              </a:defRPr>
            </a:pPr>
            <a:r>
              <a:t>事故解析器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0574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BBCC"/>
                </a:solidFill>
              </a:defRPr>
            </a:pPr>
            <a:r>
              <a:t>Accident Parser</a:t>
            </a:r>
            <a:br/>
            <a:r>
              <a:t>提取结构化信息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303520" y="2011680"/>
            <a:ext cx="548640" cy="32004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43600" y="1645920"/>
            <a:ext cx="2011680" cy="10972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71907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D2FF"/>
                </a:solidFill>
              </a:defRPr>
            </a:pPr>
            <a:r>
              <a:t>案例匹配器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0574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BBCC"/>
                </a:solidFill>
              </a:defRPr>
            </a:pPr>
            <a:r>
              <a:t>Case Matcher</a:t>
            </a:r>
            <a:br/>
            <a:r>
              <a:t>检索历史案例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6675120" y="2834640"/>
            <a:ext cx="320040" cy="457200"/>
          </a:xfrm>
          <a:prstGeom prst="down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840480" y="3474720"/>
            <a:ext cx="2286000" cy="10972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2700">
            <a:solidFill>
              <a:srgbClr val="FFA5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77640" y="354787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A502"/>
                </a:solidFill>
              </a:defRPr>
            </a:pPr>
            <a:r>
              <a:t>激进方案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38862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BBCC"/>
                </a:solidFill>
              </a:defRPr>
            </a:pPr>
            <a:r>
              <a:t>Aggressive Plan</a:t>
            </a:r>
            <a:br/>
            <a:r>
              <a:t>快速恢复、最小停工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3474720"/>
            <a:ext cx="2286000" cy="10972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52360" y="354787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E676"/>
                </a:solidFill>
              </a:defRPr>
            </a:pPr>
            <a:r>
              <a:t>保守方案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38862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BBCC"/>
                </a:solidFill>
              </a:defRPr>
            </a:pPr>
            <a:r>
              <a:t>Conservative Plan</a:t>
            </a:r>
            <a:br/>
            <a:r>
              <a:t>安全优先、分阶段处置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217920" y="3840480"/>
            <a:ext cx="1005840" cy="32004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326880" y="3474720"/>
            <a:ext cx="2286000" cy="10972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2700">
            <a:solidFill>
              <a:srgbClr val="FF4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64040" y="354787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4D6A"/>
                </a:solidFill>
              </a:defRPr>
            </a:pPr>
            <a:r>
              <a:t>合规检查器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38862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BBCC"/>
                </a:solidFill>
              </a:defRPr>
            </a:pPr>
            <a:r>
              <a:t>Compliance Checker</a:t>
            </a:r>
            <a:br/>
            <a:r>
              <a:t>行业标准审查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10241280" y="4663440"/>
            <a:ext cx="320040" cy="457200"/>
          </a:xfrm>
          <a:prstGeom prst="down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772400" y="5303520"/>
            <a:ext cx="2286000" cy="10972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2700">
            <a:solidFill>
              <a:srgbClr val="7B6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9560" y="537667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7B68EE"/>
                </a:solidFill>
              </a:defRPr>
            </a:pPr>
            <a:r>
              <a:t>决策 maker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57150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BBCC"/>
                </a:solidFill>
              </a:defRPr>
            </a:pPr>
            <a:r>
              <a:t>Decision Maker</a:t>
            </a:r>
            <a:br/>
            <a:r>
              <a:t>综合生成最终方案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10149840" y="5669280"/>
            <a:ext cx="548640" cy="32004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789920" y="5303520"/>
            <a:ext cx="1097280" cy="10972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27080" y="5376672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AABBCC"/>
                </a:solidFill>
              </a:defRPr>
            </a:pPr>
            <a:r>
              <a:t>输出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81360" y="571500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BBCC"/>
                </a:solidFill>
              </a:defRPr>
            </a:pPr>
            <a:r>
              <a:t>存档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LangGraph 核心概念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016000" cy="5080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41148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</a:defRPr>
            </a:pPr>
            <a:r>
              <a:t>StateGraph</a:t>
            </a:r>
            <a:br/>
            <a:r>
              <a:t>状态图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定义智能体的执行拓扑</a:t>
            </a:r>
            <a:br/>
            <a:r>
              <a:t>节点（Node）= 智能体</a:t>
            </a:r>
            <a:br/>
            <a:r>
              <a:t>边（Edge）= 执行顺序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645920"/>
            <a:ext cx="2560320" cy="41148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2700">
            <a:solidFill>
              <a:srgbClr val="7B6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0" y="18288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7B68EE"/>
                </a:solidFill>
              </a:defRPr>
            </a:pPr>
            <a:r>
              <a:t>State</a:t>
            </a:r>
            <a:br/>
            <a:r>
              <a:t>共享状态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0" y="292608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所有节点共享的数据结构</a:t>
            </a:r>
            <a:br/>
            <a:r>
              <a:t>TypedDict 定义字段</a:t>
            </a:r>
            <a:br/>
            <a:r>
              <a:t>支持 Reducer 合并策略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645920"/>
            <a:ext cx="2560320" cy="41148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2700">
            <a:solidFill>
              <a:srgbClr val="FFA5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8288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A502"/>
                </a:solidFill>
              </a:defRPr>
            </a:pPr>
            <a:r>
              <a:t>并行执行</a:t>
            </a:r>
            <a:br/>
            <a:r>
              <a:t>Fan-out / Fan-in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92608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多个节点同时执行</a:t>
            </a:r>
            <a:br/>
            <a:r>
              <a:t>结果自动合并到 State</a:t>
            </a:r>
            <a:br/>
            <a:r>
              <a:t>本项目：激进 &amp; 保守并行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1645920"/>
            <a:ext cx="2560320" cy="41148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18288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E676"/>
                </a:solidFill>
              </a:defRPr>
            </a:pPr>
            <a:r>
              <a:t>条件路由</a:t>
            </a:r>
            <a:br/>
            <a:r>
              <a:t>Conditional 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292608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根据 State 决定下一步</a:t>
            </a:r>
            <a:br/>
            <a:r>
              <a:t>router 节点判断意图</a:t>
            </a:r>
            <a:br/>
            <a:r>
              <a:t>分支到不同处理路径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共享状态（State）如何流转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016000" cy="5080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303520" cy="47548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D2FF"/>
                </a:solidFill>
              </a:defRPr>
            </a:pPr>
            <a:r>
              <a:t>AgentState 关键字段</a:t>
            </a:r>
          </a:p>
          <a:p>
            <a:pPr>
              <a:spcAft>
                <a:spcPts val="400"/>
              </a:spcAft>
              <a:defRPr sz="1500" b="1">
                <a:solidFill>
                  <a:srgbClr val="7B68EE"/>
                </a:solidFill>
              </a:defRPr>
            </a:pPr>
            <a:r>
              <a:t>  accident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AABBCC"/>
                </a:solidFill>
              </a:defRPr>
            </a:pPr>
            <a:r>
              <a:t>    结构化事故信息（井型、深度、鱼顶类型...）</a:t>
            </a:r>
          </a:p>
          <a:p>
            <a:pPr>
              <a:spcAft>
                <a:spcPts val="400"/>
              </a:spcAft>
              <a:defRPr sz="1500" b="1">
                <a:solidFill>
                  <a:srgbClr val="7B68EE"/>
                </a:solidFill>
              </a:defRPr>
            </a:pPr>
            <a:r>
              <a:t>  similar_cases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AABBCC"/>
                </a:solidFill>
              </a:defRPr>
            </a:pPr>
            <a:r>
              <a:t>    历史相似案例 Top 3</a:t>
            </a:r>
          </a:p>
          <a:p>
            <a:pPr>
              <a:spcAft>
                <a:spcPts val="400"/>
              </a:spcAft>
              <a:defRPr sz="1500" b="1">
                <a:solidFill>
                  <a:srgbClr val="7B68EE"/>
                </a:solidFill>
              </a:defRPr>
            </a:pPr>
            <a:r>
              <a:t>  aggressive_plan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AABBCC"/>
                </a:solidFill>
              </a:defRPr>
            </a:pPr>
            <a:r>
              <a:t>    激进处置方案文本</a:t>
            </a:r>
          </a:p>
          <a:p>
            <a:pPr>
              <a:spcAft>
                <a:spcPts val="400"/>
              </a:spcAft>
              <a:defRPr sz="1500" b="1">
                <a:solidFill>
                  <a:srgbClr val="7B68EE"/>
                </a:solidFill>
              </a:defRPr>
            </a:pPr>
            <a:r>
              <a:t>  conservative_plan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AABBCC"/>
                </a:solidFill>
              </a:defRPr>
            </a:pPr>
            <a:r>
              <a:t>    保守处置方案文本</a:t>
            </a:r>
          </a:p>
          <a:p>
            <a:pPr>
              <a:spcAft>
                <a:spcPts val="400"/>
              </a:spcAft>
              <a:defRPr sz="1500" b="1">
                <a:solidFill>
                  <a:srgbClr val="7B68EE"/>
                </a:solidFill>
              </a:defRPr>
            </a:pPr>
            <a:r>
              <a:t>  compliance_report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AABBCC"/>
                </a:solidFill>
              </a:defRPr>
            </a:pPr>
            <a:r>
              <a:t>    合规审查报告</a:t>
            </a:r>
          </a:p>
          <a:p>
            <a:pPr>
              <a:spcAft>
                <a:spcPts val="400"/>
              </a:spcAft>
              <a:defRPr sz="1500" b="1">
                <a:solidFill>
                  <a:srgbClr val="7B68EE"/>
                </a:solidFill>
              </a:defRPr>
            </a:pPr>
            <a:r>
              <a:t>  final_plan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AABBCC"/>
                </a:solidFill>
              </a:defRPr>
            </a:pPr>
            <a:r>
              <a:t>    最终综合方案（Markdown）</a:t>
            </a:r>
          </a:p>
          <a:p>
            <a:pPr>
              <a:spcAft>
                <a:spcPts val="400"/>
              </a:spcAft>
              <a:defRPr sz="1500" b="1">
                <a:solidFill>
                  <a:srgbClr val="7B68EE"/>
                </a:solidFill>
              </a:defRPr>
            </a:pPr>
            <a:r>
              <a:t>  evidence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AABBCC"/>
                </a:solidFill>
              </a:defRPr>
            </a:pPr>
            <a:r>
              <a:t>    证据链（Annotated + add 累加器）</a:t>
            </a:r>
          </a:p>
          <a:p>
            <a:pPr>
              <a:spcAft>
                <a:spcPts val="400"/>
              </a:spcAft>
              <a:defRPr sz="1500" b="1">
                <a:solidFill>
                  <a:srgbClr val="7B68EE"/>
                </a:solidFill>
              </a:defRPr>
            </a:pPr>
            <a:r>
              <a:t>  confidence_score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AABBCC"/>
                </a:solidFill>
              </a:defRPr>
            </a:pPr>
            <a:r>
              <a:t>    置信度评分 0.35~0.72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645920"/>
            <a:ext cx="5029200" cy="47548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2700">
            <a:solidFill>
              <a:srgbClr val="7B6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182880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7B68EE"/>
                </a:solidFill>
              </a:defRPr>
            </a:pPr>
            <a:r>
              <a:t>数据流转过程</a:t>
            </a:r>
          </a:p>
          <a:p>
            <a:pPr>
              <a:spcAft>
                <a:spcPts val="400"/>
              </a:spcAft>
              <a:defRPr sz="1500" b="0">
                <a:solidFill>
                  <a:srgbClr val="FFFFFF"/>
                </a:solidFill>
              </a:defRPr>
            </a:pPr>
            <a:r>
              <a:t>  1. 用户输入 → raw_description</a:t>
            </a:r>
          </a:p>
          <a:p>
            <a:pPr>
              <a:spcAft>
                <a:spcPts val="400"/>
              </a:spcAft>
              <a:defRPr sz="1500" b="0">
                <a:solidFill>
                  <a:srgbClr val="FFFFFF"/>
                </a:solidFill>
              </a:defRPr>
            </a:pPr>
            <a:r>
              <a:t>  2. 事故解析器 → accident + parse_report</a:t>
            </a:r>
          </a:p>
          <a:p>
            <a:pPr>
              <a:spcAft>
                <a:spcPts val="400"/>
              </a:spcAft>
              <a:defRPr sz="1500" b="0">
                <a:solidFill>
                  <a:srgbClr val="FFFFFF"/>
                </a:solidFill>
              </a:defRPr>
            </a:pPr>
            <a:r>
              <a:t>  3. 案例匹配 → similar_cases + evidence</a:t>
            </a:r>
          </a:p>
          <a:p>
            <a:pPr>
              <a:spcAft>
                <a:spcPts val="400"/>
              </a:spcAft>
              <a:defRPr sz="1500" b="0">
                <a:solidFill>
                  <a:srgbClr val="FFFFFF"/>
                </a:solidFill>
              </a:defRPr>
            </a:pPr>
            <a:r>
              <a:t>  4. 激进方案 → aggressive_plan + evidence</a:t>
            </a:r>
          </a:p>
          <a:p>
            <a:pPr>
              <a:spcAft>
                <a:spcPts val="400"/>
              </a:spcAft>
              <a:defRPr sz="1500" b="0">
                <a:solidFill>
                  <a:srgbClr val="FFFFFF"/>
                </a:solidFill>
              </a:defRPr>
            </a:pPr>
            <a:r>
              <a:t>  5. 保守方案 → conservative_plan + evidence</a:t>
            </a:r>
          </a:p>
          <a:p>
            <a:pPr>
              <a:spcAft>
                <a:spcPts val="400"/>
              </a:spcAft>
              <a:defRPr sz="1500" b="0">
                <a:solidFill>
                  <a:srgbClr val="FFFFFF"/>
                </a:solidFill>
              </a:defRPr>
            </a:pPr>
            <a:r>
              <a:t>  6. 合规检查 → compliance_report + confidence_score</a:t>
            </a:r>
          </a:p>
          <a:p>
            <a:pPr>
              <a:spcAft>
                <a:spcPts val="400"/>
              </a:spcAft>
              <a:defRPr sz="1500" b="0">
                <a:solidFill>
                  <a:srgbClr val="FFFFFF"/>
                </a:solidFill>
              </a:defRPr>
            </a:pPr>
            <a:r>
              <a:t>  7. 决策 maker → final_plan</a:t>
            </a:r>
          </a:p>
          <a:p>
            <a:pPr>
              <a:spcAft>
                <a:spcPts val="400"/>
              </a:spcAft>
              <a:defRPr sz="1500" b="0">
                <a:solidFill>
                  <a:srgbClr val="FFFFFF"/>
                </a:solidFill>
              </a:defRPr>
            </a:pPr>
            <a:r>
              <a:t>  8. 归档 → output_path</a:t>
            </a:r>
          </a:p>
          <a:p>
            <a:pPr>
              <a:spcAft>
                <a:spcPts val="400"/>
              </a:spcAft>
              <a:defRPr sz="8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FFA502"/>
                </a:solidFill>
              </a:defRPr>
            </a:pPr>
            <a:r>
              <a:t>  evidence 字段使用累加器（Reducer）</a:t>
            </a:r>
          </a:p>
          <a:p>
            <a:pPr>
              <a:spcAft>
                <a:spcPts val="400"/>
              </a:spcAft>
              <a:defRPr sz="1400" b="0">
                <a:solidFill>
                  <a:srgbClr val="FFA502"/>
                </a:solidFill>
              </a:defRPr>
            </a:pPr>
            <a:r>
              <a:t>  并行节点各自追加，自动合并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并行执行：两个方案同时生成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016000" cy="5080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754880" y="1463040"/>
            <a:ext cx="2560320" cy="82296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92040" y="153619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D2FF"/>
                </a:solidFill>
              </a:defRPr>
            </a:pPr>
            <a:r>
              <a:t>案例匹配器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8745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BBCC"/>
                </a:solidFill>
              </a:defRPr>
            </a:pPr>
            <a:r>
              <a:t>输出 similar_cases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2331720"/>
            <a:ext cx="38100" cy="45720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t Arrow 7"/>
          <p:cNvSpPr/>
          <p:nvPr/>
        </p:nvSpPr>
        <p:spPr>
          <a:xfrm>
            <a:off x="3474720" y="2560320"/>
            <a:ext cx="2286000" cy="457200"/>
          </a:xfrm>
          <a:prstGeom prst="ben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ent Arrow 8"/>
          <p:cNvSpPr/>
          <p:nvPr/>
        </p:nvSpPr>
        <p:spPr>
          <a:xfrm rot="10800000">
            <a:off x="6217920" y="2560320"/>
            <a:ext cx="2286000" cy="457200"/>
          </a:xfrm>
          <a:prstGeom prst="ben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3200400"/>
            <a:ext cx="4114800" cy="29260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2700">
            <a:solidFill>
              <a:srgbClr val="FFA5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383280"/>
            <a:ext cx="3657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A502"/>
                </a:solidFill>
              </a:defRPr>
            </a:pPr>
            <a:r>
              <a:t>激进方案 Agent</a:t>
            </a:r>
          </a:p>
          <a:p>
            <a:pPr>
              <a:spcAft>
                <a:spcPts val="400"/>
              </a:spcAft>
              <a:defRPr sz="1500" b="0">
                <a:solidFill>
                  <a:srgbClr val="FFFFFF"/>
                </a:solidFill>
              </a:defRPr>
            </a:pPr>
            <a:r>
              <a:t>  •  目标：快速恢复生产，最小化停工时间</a:t>
            </a:r>
          </a:p>
          <a:p>
            <a:pPr>
              <a:spcAft>
                <a:spcPts val="400"/>
              </a:spcAft>
              <a:defRPr sz="1500" b="0">
                <a:solidFill>
                  <a:srgbClr val="FFFFFF"/>
                </a:solidFill>
              </a:defRPr>
            </a:pPr>
            <a:r>
              <a:t>  •  策略：直接打捞 → 上击器 → 套铣</a:t>
            </a:r>
          </a:p>
          <a:p>
            <a:pPr>
              <a:spcAft>
                <a:spcPts val="400"/>
              </a:spcAft>
              <a:defRPr sz="1500" b="0">
                <a:solidFill>
                  <a:srgbClr val="FFFFFF"/>
                </a:solidFill>
              </a:defRPr>
            </a:pPr>
            <a:r>
              <a:t>  •  特点：步骤少、速度快</a:t>
            </a:r>
          </a:p>
          <a:p>
            <a:pPr>
              <a:spcAft>
                <a:spcPts val="400"/>
              </a:spcAft>
              <a:defRPr sz="1500" b="0">
                <a:solidFill>
                  <a:srgbClr val="FFFFFF"/>
                </a:solidFill>
              </a:defRPr>
            </a:pPr>
            <a:r>
              <a:t>  •  风险：可能遗漏复杂情况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3200400"/>
            <a:ext cx="4114800" cy="29260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0" y="3383280"/>
            <a:ext cx="3657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E676"/>
                </a:solidFill>
              </a:defRPr>
            </a:pPr>
            <a:r>
              <a:t>保守方案 Agent</a:t>
            </a:r>
          </a:p>
          <a:p>
            <a:pPr>
              <a:spcAft>
                <a:spcPts val="400"/>
              </a:spcAft>
              <a:defRPr sz="1500" b="0">
                <a:solidFill>
                  <a:srgbClr val="FFFFFF"/>
                </a:solidFill>
              </a:defRPr>
            </a:pPr>
            <a:r>
              <a:t>  •  目标：安全优先，防止事故恶化</a:t>
            </a:r>
          </a:p>
          <a:p>
            <a:pPr>
              <a:spcAft>
                <a:spcPts val="400"/>
              </a:spcAft>
              <a:defRPr sz="1500" b="0">
                <a:solidFill>
                  <a:srgbClr val="FFFFFF"/>
                </a:solidFill>
              </a:defRPr>
            </a:pPr>
            <a:r>
              <a:t>  •  策略：循环洗井 → 浸泡 → 上击 → 打捞 → 套铣 → 侧钻</a:t>
            </a:r>
          </a:p>
          <a:p>
            <a:pPr>
              <a:spcAft>
                <a:spcPts val="400"/>
              </a:spcAft>
              <a:defRPr sz="1500" b="0">
                <a:solidFill>
                  <a:srgbClr val="FFFFFF"/>
                </a:solidFill>
              </a:defRPr>
            </a:pPr>
            <a:r>
              <a:t>  •  特点：分阶段、有停工判定条件</a:t>
            </a:r>
          </a:p>
          <a:p>
            <a:pPr>
              <a:spcAft>
                <a:spcPts val="400"/>
              </a:spcAft>
              <a:defRPr sz="1500" b="0">
                <a:solidFill>
                  <a:srgbClr val="FFFFFF"/>
                </a:solidFill>
              </a:defRPr>
            </a:pPr>
            <a:r>
              <a:t>  •  风险：周期长、成本高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2743200" y="6217920"/>
            <a:ext cx="365760" cy="365760"/>
          </a:xfrm>
          <a:prstGeom prst="down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own Arrow 14"/>
          <p:cNvSpPr/>
          <p:nvPr/>
        </p:nvSpPr>
        <p:spPr>
          <a:xfrm>
            <a:off x="8686800" y="6217920"/>
            <a:ext cx="365760" cy="365760"/>
          </a:xfrm>
          <a:prstGeom prst="down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6217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D2FF"/>
                </a:solidFill>
              </a:defRPr>
            </a:pPr>
            <a:r>
              <a:t>两个方案并行输出，结果通过 State 合并，交给合规检查器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合规检查 + 最终决策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016000" cy="5080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47548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2700">
            <a:solidFill>
              <a:srgbClr val="FF4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4389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4D6A"/>
                </a:solidFill>
              </a:defRPr>
            </a:pPr>
            <a:r>
              <a:t>合规检查器</a:t>
            </a:r>
          </a:p>
          <a:p>
            <a:pPr>
              <a:spcAft>
                <a:spcPts val="400"/>
              </a:spcAft>
              <a:defRPr sz="1500" b="0">
                <a:solidFill>
                  <a:srgbClr val="FFFFFF"/>
                </a:solidFill>
              </a:defRPr>
            </a:pPr>
            <a:r>
              <a:t>  对照行业标准审查两个方案：</a:t>
            </a:r>
          </a:p>
          <a:p>
            <a:pPr>
              <a:spcAft>
                <a:spcPts val="400"/>
              </a:spcAft>
              <a:defRPr sz="1500" b="0">
                <a:solidFill>
                  <a:srgbClr val="FFFFFF"/>
                </a:solidFill>
              </a:defRPr>
            </a:pPr>
            <a:r>
              <a:t>    •  SY 5069-2017（常规井标准）</a:t>
            </a:r>
          </a:p>
          <a:p>
            <a:pPr>
              <a:spcAft>
                <a:spcPts val="400"/>
              </a:spcAft>
              <a:defRPr sz="1500" b="0">
                <a:solidFill>
                  <a:srgbClr val="FFFFFF"/>
                </a:solidFill>
              </a:defRPr>
            </a:pPr>
            <a:r>
              <a:t>    •  SY/T 5587.12-2018（打捞规程）</a:t>
            </a:r>
          </a:p>
          <a:p>
            <a:pPr>
              <a:spcAft>
                <a:spcPts val="400"/>
              </a:spcAft>
              <a:defRPr sz="1500" b="0">
                <a:solidFill>
                  <a:srgbClr val="FFFFFF"/>
                </a:solidFill>
              </a:defRPr>
            </a:pPr>
            <a:r>
              <a:t>    •  SYT 6987-2024（水平井标准）</a:t>
            </a:r>
          </a:p>
          <a:p>
            <a:pPr>
              <a:spcAft>
                <a:spcPts val="400"/>
              </a:spcAft>
              <a:defRPr sz="1500" b="0">
                <a:solidFill>
                  <a:srgbClr val="FFFFFF"/>
                </a:solidFill>
              </a:defRPr>
            </a:pPr>
            <a:r>
              <a:t>  </a:t>
            </a:r>
          </a:p>
          <a:p>
            <a:pPr>
              <a:spcAft>
                <a:spcPts val="400"/>
              </a:spcAft>
              <a:defRPr sz="1500" b="0">
                <a:solidFill>
                  <a:srgbClr val="FFFFFF"/>
                </a:solidFill>
              </a:defRPr>
            </a:pPr>
            <a:r>
              <a:t>  置信度计算规则：</a:t>
            </a:r>
          </a:p>
          <a:p>
            <a:pPr>
              <a:spcAft>
                <a:spcPts val="400"/>
              </a:spcAft>
              <a:defRPr sz="1500" b="0">
                <a:solidFill>
                  <a:srgbClr val="FFFFFF"/>
                </a:solidFill>
              </a:defRPr>
            </a:pPr>
            <a:r>
              <a:t>    •  基准分：0.72</a:t>
            </a:r>
          </a:p>
          <a:p>
            <a:pPr>
              <a:spcAft>
                <a:spcPts val="400"/>
              </a:spcAft>
              <a:defRPr sz="1500" b="0">
                <a:solidFill>
                  <a:srgbClr val="FFFFFF"/>
                </a:solidFill>
              </a:defRPr>
            </a:pPr>
            <a:r>
              <a:t>    •  缺失信息：每个 -0.03（上限 -0.25）</a:t>
            </a:r>
          </a:p>
          <a:p>
            <a:pPr>
              <a:spcAft>
                <a:spcPts val="400"/>
              </a:spcAft>
              <a:defRPr sz="1500" b="0">
                <a:solidFill>
                  <a:srgbClr val="FFFFFF"/>
                </a:solidFill>
              </a:defRPr>
            </a:pPr>
            <a:r>
              <a:t>    •  无相似案例：-0.12</a:t>
            </a:r>
          </a:p>
          <a:p>
            <a:pPr>
              <a:spcAft>
                <a:spcPts val="400"/>
              </a:spcAft>
              <a:defRPr sz="1500" b="0">
                <a:solidFill>
                  <a:srgbClr val="FFFFFF"/>
                </a:solidFill>
              </a:defRPr>
            </a:pPr>
            <a:r>
              <a:t>    •  最低不低于 0.35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645920"/>
            <a:ext cx="5029200" cy="47548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2700">
            <a:solidFill>
              <a:srgbClr val="7B6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182880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7B68EE"/>
                </a:solidFill>
              </a:defRPr>
            </a:pPr>
            <a:r>
              <a:t>决策 Maker</a:t>
            </a:r>
          </a:p>
          <a:p>
            <a:pPr>
              <a:spcAft>
                <a:spcPts val="400"/>
              </a:spcAft>
              <a:defRPr sz="1500" b="0">
                <a:solidFill>
                  <a:srgbClr val="FFFFFF"/>
                </a:solidFill>
              </a:defRPr>
            </a:pPr>
            <a:r>
              <a:t>  综合所有信息，生成最终方案：</a:t>
            </a:r>
          </a:p>
          <a:p>
            <a:pPr>
              <a:spcAft>
                <a:spcPts val="400"/>
              </a:spcAft>
              <a:defRPr sz="1500" b="0">
                <a:solidFill>
                  <a:srgbClr val="FFFFFF"/>
                </a:solidFill>
              </a:defRPr>
            </a:pPr>
            <a:r>
              <a:t>  </a:t>
            </a:r>
          </a:p>
          <a:p>
            <a:pPr>
              <a:spcAft>
                <a:spcPts val="400"/>
              </a:spcAft>
              <a:defRPr sz="1500" b="0">
                <a:solidFill>
                  <a:srgbClr val="FFFFFF"/>
                </a:solidFill>
              </a:defRPr>
            </a:pPr>
            <a:r>
              <a:t>  输入来源：</a:t>
            </a:r>
          </a:p>
          <a:p>
            <a:pPr>
              <a:spcAft>
                <a:spcPts val="400"/>
              </a:spcAft>
              <a:defRPr sz="1500" b="0">
                <a:solidFill>
                  <a:srgbClr val="FFFFFF"/>
                </a:solidFill>
              </a:defRPr>
            </a:pPr>
            <a:r>
              <a:t>    •  激进方案 + 保守方案</a:t>
            </a:r>
          </a:p>
          <a:p>
            <a:pPr>
              <a:spcAft>
                <a:spcPts val="400"/>
              </a:spcAft>
              <a:defRPr sz="1500" b="0">
                <a:solidFill>
                  <a:srgbClr val="FFFFFF"/>
                </a:solidFill>
              </a:defRPr>
            </a:pPr>
            <a:r>
              <a:t>    •  合规审查报告</a:t>
            </a:r>
          </a:p>
          <a:p>
            <a:pPr>
              <a:spcAft>
                <a:spcPts val="400"/>
              </a:spcAft>
              <a:defRPr sz="1500" b="0">
                <a:solidFill>
                  <a:srgbClr val="FFFFFF"/>
                </a:solidFill>
              </a:defRPr>
            </a:pPr>
            <a:r>
              <a:t>    •  证据链（案例 + 标准引用）</a:t>
            </a:r>
          </a:p>
          <a:p>
            <a:pPr>
              <a:spcAft>
                <a:spcPts val="400"/>
              </a:spcAft>
              <a:defRPr sz="1500" b="0">
                <a:solidFill>
                  <a:srgbClr val="FFFFFF"/>
                </a:solidFill>
              </a:defRPr>
            </a:pPr>
            <a:r>
              <a:t>  </a:t>
            </a:r>
          </a:p>
          <a:p>
            <a:pPr>
              <a:spcAft>
                <a:spcPts val="400"/>
              </a:spcAft>
              <a:defRPr sz="1500" b="0">
                <a:solidFill>
                  <a:srgbClr val="FFFFFF"/>
                </a:solidFill>
              </a:defRPr>
            </a:pPr>
            <a:r>
              <a:t>  输出结构：</a:t>
            </a:r>
          </a:p>
          <a:p>
            <a:pPr>
              <a:spcAft>
                <a:spcPts val="400"/>
              </a:spcAft>
              <a:defRPr sz="1500" b="0">
                <a:solidFill>
                  <a:srgbClr val="FFFFFF"/>
                </a:solidFill>
              </a:defRPr>
            </a:pPr>
            <a:r>
              <a:t>    •  事故概要 + 缺失信息</a:t>
            </a:r>
          </a:p>
          <a:p>
            <a:pPr>
              <a:spcAft>
                <a:spcPts val="400"/>
              </a:spcAft>
              <a:defRPr sz="1500" b="0">
                <a:solidFill>
                  <a:srgbClr val="FFFFFF"/>
                </a:solidFill>
              </a:defRPr>
            </a:pPr>
            <a:r>
              <a:t>    •  主路径（保守）+ 加速条件</a:t>
            </a:r>
          </a:p>
          <a:p>
            <a:pPr>
              <a:spcAft>
                <a:spcPts val="400"/>
              </a:spcAft>
              <a:defRPr sz="1500" b="0">
                <a:solidFill>
                  <a:srgbClr val="FFFFFF"/>
                </a:solidFill>
              </a:defRPr>
            </a:pPr>
            <a:r>
              <a:t>    •  快速恢复替代方案</a:t>
            </a:r>
          </a:p>
          <a:p>
            <a:pPr>
              <a:spcAft>
                <a:spcPts val="400"/>
              </a:spcAft>
              <a:defRPr sz="1500" b="0">
                <a:solidFill>
                  <a:srgbClr val="FFFFFF"/>
                </a:solidFill>
              </a:defRPr>
            </a:pPr>
            <a:r>
              <a:t>    •  判定节点 + 应急程序</a:t>
            </a:r>
          </a:p>
          <a:p>
            <a:pPr>
              <a:spcAft>
                <a:spcPts val="400"/>
              </a:spcAft>
              <a:defRPr sz="1500" b="0">
                <a:solidFill>
                  <a:srgbClr val="FFFFFF"/>
                </a:solidFill>
              </a:defRPr>
            </a:pPr>
            <a:r>
              <a:t>    •  风险提示 + 参考文献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进阶：多轮对话图（Conversation Graph）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016000" cy="5080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0" y="1463040"/>
            <a:ext cx="2286000" cy="9144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2700">
            <a:solidFill>
              <a:srgbClr val="7B6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66360" y="153619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7B68EE"/>
                </a:solidFill>
              </a:defRPr>
            </a:pPr>
            <a:r>
              <a:t>Router 路由器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8745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BBCC"/>
                </a:solidFill>
              </a:defRPr>
            </a:pPr>
            <a:r>
              <a:t>分类用户意图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926080"/>
            <a:ext cx="3200400" cy="164592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2700">
            <a:solidFill>
              <a:srgbClr val="FFA5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99923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A502"/>
                </a:solidFill>
              </a:defRPr>
            </a:pPr>
            <a:r>
              <a:t>solve 求解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3756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BBCC"/>
                </a:solidFill>
              </a:defRPr>
            </a:pPr>
            <a:r>
              <a:t>重新评估 / 修订方案</a:t>
            </a:r>
            <a:br/>
            <a:r>
              <a:t>触发完整辩论流程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926080"/>
            <a:ext cx="3200400" cy="164592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299923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E676"/>
                </a:solidFill>
              </a:defRPr>
            </a:pPr>
            <a:r>
              <a:t>explain 解释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33756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BBCC"/>
                </a:solidFill>
              </a:defRPr>
            </a:pPr>
            <a:r>
              <a:t>回答关于方案的追问</a:t>
            </a:r>
            <a:br/>
            <a:r>
              <a:t>不修改方案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2926080"/>
            <a:ext cx="3200400" cy="164592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299923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D2FF"/>
                </a:solidFill>
              </a:defRPr>
            </a:pPr>
            <a:r>
              <a:t>finalize 定稿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33756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BBCC"/>
                </a:solidFill>
              </a:defRPr>
            </a:pPr>
            <a:r>
              <a:t>锁定并导出方案</a:t>
            </a:r>
            <a:br/>
            <a:r>
              <a:t>结束对话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502"/>
                </a:solidFill>
              </a:defRPr>
            </a:pPr>
            <a:r>
              <a:t>solve 分支详细流程：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3035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state_update → case_refresh → debate（模拟多轮辩论）→ compliance → revision（修订方案）→ archive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关键设计模式总结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016000" cy="5080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2651760" cy="47548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2700">
            <a:solidFill>
              <a:srgbClr val="FFA5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A502"/>
                </a:solidFill>
              </a:defRPr>
            </a:pPr>
            <a:r>
              <a:t>辩论模式</a:t>
            </a:r>
            <a:br/>
            <a:r>
              <a:t>Debate Pattern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2286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两个对立视角的 Agent 生成方案</a:t>
            </a:r>
            <a:br/>
            <a:r>
              <a:t>决策者综合双方观点</a:t>
            </a:r>
            <a:br/>
            <a:r>
              <a:t>模拟人类专家的讨论过程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651760" cy="47548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8288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2FF"/>
                </a:solidFill>
              </a:defRPr>
            </a:pPr>
            <a:r>
              <a:t>证据链</a:t>
            </a:r>
            <a:br/>
            <a:r>
              <a:t>Evidence Chain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3017520"/>
            <a:ext cx="2286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每个 Agent 输出时追加 evidence</a:t>
            </a:r>
            <a:br/>
            <a:r>
              <a:t>Annotated[List, add] 累加器</a:t>
            </a:r>
            <a:br/>
            <a:r>
              <a:t>最终方案引用完整证据链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645920"/>
            <a:ext cx="2651760" cy="47548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39" y="18288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E676"/>
                </a:solidFill>
              </a:defRPr>
            </a:pPr>
            <a:r>
              <a:t>LLM + 规则混合</a:t>
            </a:r>
            <a:br/>
            <a:r>
              <a:t>Hybrid Approach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39" y="3017520"/>
            <a:ext cx="2286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每个 Agent 有确定性 fallback</a:t>
            </a:r>
            <a:br/>
            <a:r>
              <a:t>LLM 可选增强质量</a:t>
            </a:r>
            <a:br/>
            <a:r>
              <a:t>系统在无 LLM 时仍可运行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19" y="1645920"/>
            <a:ext cx="2651760" cy="47548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2700">
            <a:solidFill>
              <a:srgbClr val="7B6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72599" y="18288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B68EE"/>
                </a:solidFill>
              </a:defRPr>
            </a:pPr>
            <a:r>
              <a:t>Wiki 知识库</a:t>
            </a:r>
            <a:br/>
            <a:r>
              <a:t>RAG Pattern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599" y="3017520"/>
            <a:ext cx="2286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本地 Markdown 知识库</a:t>
            </a:r>
            <a:br/>
            <a:r>
              <a:t>加权关键词匹配检索</a:t>
            </a:r>
            <a:br/>
            <a:r>
              <a:t>标准文档 &amp; 历史案例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项目代码结构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016000" cy="5080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9144000" cy="47548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D2FF"/>
                </a:solidFill>
              </a:defRPr>
            </a:pPr>
            <a:r>
              <a:t>src/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  ├── agents/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  │   ├── accident_parser.py      # 事故信息提取节点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  │   ├── case_matcher.py         # 历史案例匹配节点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  │   ├── aggressive_plan.py      # 激进方案生成节点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  │   ├── conservative_plan.py    # 保守方案生成节点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  │   ├── compliance_checker.py   # 合规审查节点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  │   └── decision_maker.py       # 综合决策 + 归档节点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  ├── graph.py                    # LangGraph 状态图定义（核心编排）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  ├── state.py                    # AgentState / ConversationState 定义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  ├── main.py                     # CLI 入口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  ├── web_api.py                  # FastAPI Web 服务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  ├── llm_client.py               # LLM 客户端（OpenAI / Anthropic / GLM）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  └── disposition_graph.py        # 知识图谱可视化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总结与要点回顾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1828800"/>
            <a:ext cx="12191695" cy="3810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71600" y="2194560"/>
            <a:ext cx="548640" cy="54864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26771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221284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</a:defRPr>
            </a:pPr>
            <a:r>
              <a:t>多智能体 = 分工协作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267712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BBCC"/>
                </a:solidFill>
              </a:defRPr>
            </a:pPr>
            <a:r>
              <a:t>每个 Agent 有明确职责，通过共享 State 协同工作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3063239"/>
            <a:ext cx="548640" cy="548640"/>
          </a:xfrm>
          <a:prstGeom prst="ellipse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36391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3081527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B68EE"/>
                </a:solidFill>
              </a:defRPr>
            </a:pPr>
            <a:r>
              <a:t>LangGraph 是编排引擎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136391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BBCC"/>
                </a:solidFill>
              </a:defRPr>
            </a:pPr>
            <a:r>
              <a:t>定义节点和边，支持串行、并行、条件路由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3931920"/>
            <a:ext cx="548640" cy="548640"/>
          </a:xfrm>
          <a:prstGeom prst="ellipse">
            <a:avLst/>
          </a:prstGeom>
          <a:solidFill>
            <a:srgbClr val="FFA5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400507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395020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A502"/>
                </a:solidFill>
              </a:defRPr>
            </a:pPr>
            <a:r>
              <a:t>并行 + 辩论 = 更好决策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4005072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BBCC"/>
                </a:solidFill>
              </a:defRPr>
            </a:pPr>
            <a:r>
              <a:t>两个对立方案并行生成，综合决策更全面</a:t>
            </a:r>
          </a:p>
        </p:txBody>
      </p:sp>
      <p:sp>
        <p:nvSpPr>
          <p:cNvPr id="16" name="Oval 15"/>
          <p:cNvSpPr/>
          <p:nvPr/>
        </p:nvSpPr>
        <p:spPr>
          <a:xfrm>
            <a:off x="1371600" y="4800600"/>
            <a:ext cx="548640" cy="54864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487375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481888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76"/>
                </a:solidFill>
              </a:defRPr>
            </a:pPr>
            <a:r>
              <a:t>State 是信息桥梁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873752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BBCC"/>
                </a:solidFill>
              </a:defRPr>
            </a:pPr>
            <a:r>
              <a:t>所有 Agent 通过 State 读写数据，Evidence 累加器实现证据链</a:t>
            </a:r>
          </a:p>
        </p:txBody>
      </p:sp>
      <p:sp>
        <p:nvSpPr>
          <p:cNvPr id="20" name="Oval 19"/>
          <p:cNvSpPr/>
          <p:nvPr/>
        </p:nvSpPr>
        <p:spPr>
          <a:xfrm>
            <a:off x="1371600" y="5669279"/>
            <a:ext cx="548640" cy="548640"/>
          </a:xfrm>
          <a:prstGeom prst="ellipse">
            <a:avLst/>
          </a:prstGeom>
          <a:solidFill>
            <a:srgbClr val="FF4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5742431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5687567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4D6A"/>
                </a:solidFill>
              </a:defRPr>
            </a:pPr>
            <a:r>
              <a:t>LLM 是可选增强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5742431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BBCC"/>
                </a:solidFill>
              </a:defRPr>
            </a:pPr>
            <a:r>
              <a:t>每个 Agent 都有确定性 fallback，系统鲁棒性强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D2FF"/>
                </a:solidFill>
              </a:defRPr>
            </a:pPr>
            <a:r>
              <a:t>谢谢！欢迎提问交流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